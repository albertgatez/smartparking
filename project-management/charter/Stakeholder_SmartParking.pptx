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NR/i4S0TivgdPXEjwNwxNI5PI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8BDC6E-E0E8-498B-A26E-B99DAD2FB73E}">
  <a:tblStyle styleId="{528BDC6E-E0E8-498B-A26E-B99DAD2FB73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customschemas.google.com/relationships/presentationmetadata" Target="meta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df0a81ae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f8df0a81a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"/>
          <p:cNvGraphicFramePr/>
          <p:nvPr/>
        </p:nvGraphicFramePr>
        <p:xfrm>
          <a:off x="13" y="58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{528BDC6E-E0E8-498B-A26E-B99DAD2FB73E}</a:tableStyleId>
              </a:tblPr>
              <a:tblGrid>
                <a:gridCol w="1125900"/>
                <a:gridCol w="1189450"/>
                <a:gridCol w="1770000"/>
                <a:gridCol w="1887550"/>
                <a:gridCol w="705325"/>
                <a:gridCol w="728075"/>
                <a:gridCol w="1737675"/>
              </a:tblGrid>
              <a:tr h="82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/>
                        <a:t>Interesado</a:t>
                      </a:r>
                      <a:endParaRPr b="1" sz="9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/>
                        <a:t>Rol en el proyecto</a:t>
                      </a:r>
                      <a:endParaRPr b="1"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/>
                        <a:t>Participación</a:t>
                      </a:r>
                      <a:endParaRPr b="1"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Impacto</a:t>
                      </a:r>
                      <a:endParaRPr b="1"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/>
                        <a:t>Poder o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/>
                        <a:t>influencia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/>
                        <a:t>(A/M/B)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/>
                        <a:t>Interés (A/M/B)</a:t>
                      </a:r>
                      <a:endParaRPr b="1"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/>
                        <a:t>Estrategia de involucramiento</a:t>
                      </a:r>
                      <a:endParaRPr b="1"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737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Dirección / Administración del centro comercial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Patrocinador / cliente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/>
                        <a:t>Autoriza la implementación, establece restricciones de operación y valida condiciones de uso del estacionamiento.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El sistema puede mejorar la gestión del estacionamiento y modificar algunos procesos de operación.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A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A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Mantener comunicación periódica y solicitar validación de cambios relevantes que afecten la operación.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Profesor responsable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Supervisor del proyecto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/>
                        <a:t>Supervisa el desarrollo, revisa avances y valida los entregables académicos.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/>
                        <a:t>Influye directamente en la evaluación y cumplimiento de los objetivos del proyecto.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A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A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Gestionar de cerca mediante revisiones periódicas, seguimiento de avances y presentación de entregables.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4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Mentor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Mentor técnico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/>
                        <a:t>Proporciona orientación técnica, revisa decisiones relevantes y apoya en la resolución de bloqueos.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/>
                        <a:t>Puede influir en decisiones técnicas y en la solución de problemas durante la construcción.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M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A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Consultar decisiones técnicas relevantes y mantenerlo informado sobre avances, riesgos y bloqueos.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3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Equipo estudiantil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Equipo de desarrollo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Diseña, desarrolla, integra, prueba y documenta los componentes de SmartParking. 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/>
                        <a:t>Tiene impacto directo sobre el desarrollo y funcionamiento del sistema.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A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A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Gestionar de cerca mediante reuniones, asignación de responsabilidades, seguimiento en GitHub y revisión de avances.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" name="Google Shape;55;p1"/>
          <p:cNvSpPr txBox="1"/>
          <p:nvPr/>
        </p:nvSpPr>
        <p:spPr>
          <a:xfrm>
            <a:off x="0" y="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4285F4"/>
                </a:solidFill>
              </a:rPr>
              <a:t>Comprender a los interesados (análisis de stakeholders)</a:t>
            </a:r>
            <a:endParaRPr b="1" i="0" sz="2000" u="none" cap="none" strike="noStrik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0" name="Google Shape;60;g3f8df0a81ae_0_46"/>
          <p:cNvGraphicFramePr/>
          <p:nvPr/>
        </p:nvGraphicFramePr>
        <p:xfrm>
          <a:off x="13" y="97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{528BDC6E-E0E8-498B-A26E-B99DAD2FB73E}</a:tableStyleId>
              </a:tblPr>
              <a:tblGrid>
                <a:gridCol w="1125900"/>
                <a:gridCol w="1189450"/>
                <a:gridCol w="1770000"/>
                <a:gridCol w="1887550"/>
                <a:gridCol w="705325"/>
                <a:gridCol w="728075"/>
                <a:gridCol w="1737675"/>
              </a:tblGrid>
              <a:tr h="82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/>
                        <a:t>Interesado</a:t>
                      </a:r>
                      <a:endParaRPr b="1" sz="900" u="none" cap="none" strike="noStrike">
                        <a:solidFill>
                          <a:srgbClr val="666666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/>
                        <a:t>Rol en el proyecto</a:t>
                      </a:r>
                      <a:endParaRPr b="1"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/>
                        <a:t>Participación</a:t>
                      </a:r>
                      <a:endParaRPr b="1"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Impacto</a:t>
                      </a:r>
                      <a:endParaRPr b="1"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/>
                        <a:t>Poder o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/>
                        <a:t>influencia</a:t>
                      </a:r>
                      <a:endParaRPr b="1" sz="9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900"/>
                        <a:t>(A/M/B)</a:t>
                      </a:r>
                      <a:endParaRPr b="1" sz="900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b="1" sz="9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/>
                        <a:t>Interés (A/M/B)</a:t>
                      </a:r>
                      <a:endParaRPr b="1"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/>
                        <a:t>Estrategia de involucramiento</a:t>
                      </a:r>
                      <a:endParaRPr b="1"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737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Usuarios del estacionamiento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Usuarios / beneficiarios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Utilizan la aplicación para consultar disponibilidad, reservar espacios y realizar pagos. 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El sistema busca mejorar su experiencia y reducir el tiempo empleado en encontrar estacionamiento.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M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</a:t>
                      </a:r>
                      <a:endParaRPr sz="900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Recopilar retroalimentación sobre facilidad de uso, disponibilidad, reservaciones y proceso de pago.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5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Personal administrativo del estacionamiento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Usuario operativo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Supervisa la operación del estacionamiento y puede consultar información sobre espacios y reservas. 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/>
                        <a:t>El sistema modifica y apoya algunas actividades relacionadas con la gestión del estacionamiento.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M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M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Mantener informado sobre cambios operativos y recopilar comentarios sobre el funcionamiento del sistema.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4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Proveedor de servicios de pago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Proveedor externo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Proporciona la infraestructura para procesar los pagos digitales. 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lang="en" sz="900"/>
                        <a:t>Una interrupción del servicio puede afectar las reservaciones y transacciones.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M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B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Mantener documentada la integración, monitorear el servicio y contemplar mecanismos de manejo de errores. </a:t>
                      </a:r>
                      <a:endParaRPr sz="900" u="none" cap="none" strike="noStrike"/>
                    </a:p>
                  </a:txBody>
                  <a:tcPr marT="50000" marB="50000" marR="66675" marL="666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" name="Google Shape;61;g3f8df0a81ae_0_46"/>
          <p:cNvSpPr txBox="1"/>
          <p:nvPr/>
        </p:nvSpPr>
        <p:spPr>
          <a:xfrm>
            <a:off x="0" y="0"/>
            <a:ext cx="91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4285F4"/>
                </a:solidFill>
              </a:rPr>
              <a:t>Comprender a los interesados (análisis de stakeholders)</a:t>
            </a:r>
            <a:endParaRPr b="1" i="0" sz="2000" u="none" cap="none" strike="noStrik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/>
        </p:nvSpPr>
        <p:spPr>
          <a:xfrm>
            <a:off x="2642351" y="70598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Mantener satisfecho 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(alta prioridad)</a:t>
            </a:r>
            <a:endParaRPr b="1"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5459946" y="705986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Gestionar cerca 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(alto esfuerzo)</a:t>
            </a:r>
            <a:endParaRPr b="1"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68" name="Google Shape;68;p2"/>
          <p:cNvSpPr txBox="1"/>
          <p:nvPr/>
        </p:nvSpPr>
        <p:spPr>
          <a:xfrm>
            <a:off x="2642351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Monitorear 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(esfuerzo mínimo)</a:t>
            </a:r>
            <a:endParaRPr b="1"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5459946" y="2574221"/>
            <a:ext cx="2817600" cy="1868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Mostrar consideración</a:t>
            </a:r>
            <a:endParaRPr b="1" i="0" sz="1400" u="none" cap="none" strike="noStrike">
              <a:solidFill>
                <a:schemeClr val="dk1"/>
              </a:solidFill>
            </a:endParaRPr>
          </a:p>
        </p:txBody>
      </p:sp>
      <p:sp>
        <p:nvSpPr>
          <p:cNvPr id="70" name="Google Shape;70;p2"/>
          <p:cNvSpPr txBox="1"/>
          <p:nvPr/>
        </p:nvSpPr>
        <p:spPr>
          <a:xfrm rot="-5400000">
            <a:off x="1463200" y="2475949"/>
            <a:ext cx="8346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600">
                <a:solidFill>
                  <a:srgbClr val="6AA84F"/>
                </a:solidFill>
              </a:rPr>
              <a:t>poder</a:t>
            </a:r>
            <a:endParaRPr b="1" i="0" sz="1600" u="none" cap="none" strike="noStrike">
              <a:solidFill>
                <a:srgbClr val="6AA84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1311100" y="602636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666666"/>
                </a:solidFill>
              </a:rPr>
              <a:t>alto</a:t>
            </a:r>
            <a:endParaRPr b="1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1311100" y="4208025"/>
            <a:ext cx="1220400" cy="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666666"/>
                </a:solidFill>
              </a:rPr>
              <a:t>bajo</a:t>
            </a:r>
            <a:endParaRPr b="1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2"/>
          <p:cNvCxnSpPr/>
          <p:nvPr/>
        </p:nvCxnSpPr>
        <p:spPr>
          <a:xfrm rot="10800000">
            <a:off x="2283756" y="993450"/>
            <a:ext cx="0" cy="14766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4" name="Google Shape;74;p2"/>
          <p:cNvCxnSpPr/>
          <p:nvPr/>
        </p:nvCxnSpPr>
        <p:spPr>
          <a:xfrm>
            <a:off x="2283756" y="2695294"/>
            <a:ext cx="0" cy="1542900"/>
          </a:xfrm>
          <a:prstGeom prst="straightConnector1">
            <a:avLst/>
          </a:prstGeom>
          <a:noFill/>
          <a:ln cap="flat" cmpd="sng" w="19050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" name="Google Shape;75;p2"/>
          <p:cNvSpPr txBox="1"/>
          <p:nvPr/>
        </p:nvSpPr>
        <p:spPr>
          <a:xfrm>
            <a:off x="5001201" y="4445944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500">
                <a:solidFill>
                  <a:srgbClr val="666666"/>
                </a:solidFill>
              </a:rPr>
              <a:t>medio</a:t>
            </a:r>
            <a:endParaRPr b="1" i="0" sz="15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7643525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666666"/>
                </a:solidFill>
              </a:rPr>
              <a:t>alto</a:t>
            </a:r>
            <a:endParaRPr b="1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2302900" y="4445934"/>
            <a:ext cx="92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666666"/>
                </a:solidFill>
              </a:rPr>
              <a:t>bajo</a:t>
            </a:r>
            <a:endParaRPr b="1" i="0" sz="14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" name="Google Shape;78;p2"/>
          <p:cNvCxnSpPr>
            <a:stCxn id="75" idx="3"/>
          </p:cNvCxnSpPr>
          <p:nvPr/>
        </p:nvCxnSpPr>
        <p:spPr>
          <a:xfrm>
            <a:off x="6008301" y="4617394"/>
            <a:ext cx="1840200" cy="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" name="Google Shape;79;p2"/>
          <p:cNvCxnSpPr>
            <a:stCxn id="75" idx="1"/>
            <a:endCxn id="77" idx="3"/>
          </p:cNvCxnSpPr>
          <p:nvPr/>
        </p:nvCxnSpPr>
        <p:spPr>
          <a:xfrm rot="10800000">
            <a:off x="3227301" y="4617394"/>
            <a:ext cx="1773900" cy="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0" name="Google Shape;80;p2"/>
          <p:cNvSpPr txBox="1"/>
          <p:nvPr/>
        </p:nvSpPr>
        <p:spPr>
          <a:xfrm>
            <a:off x="-10050" y="76200"/>
            <a:ext cx="91440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4285F4"/>
                </a:solidFill>
              </a:rPr>
              <a:t>Priorización de interesados (matriz poder–interés)</a:t>
            </a:r>
            <a:endParaRPr b="1" i="0" sz="1400" u="none" cap="none" strike="noStrike">
              <a:solidFill>
                <a:srgbClr val="4285F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626863" y="1220840"/>
            <a:ext cx="1514700" cy="5028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</a:rPr>
              <a:t>Dirección / Administración con el centro comercial</a:t>
            </a:r>
            <a:endParaRPr b="1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7826150" y="548325"/>
            <a:ext cx="924300" cy="342900"/>
          </a:xfrm>
          <a:prstGeom prst="roundRect">
            <a:avLst>
              <a:gd fmla="val 16667" name="adj"/>
            </a:avLst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</a:rPr>
              <a:t>Equipo estudiantil</a:t>
            </a:r>
            <a:endParaRPr b="1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7848500" y="2398401"/>
            <a:ext cx="879600" cy="342900"/>
          </a:xfrm>
          <a:prstGeom prst="roundRect">
            <a:avLst>
              <a:gd fmla="val 16667" name="adj"/>
            </a:avLst>
          </a:prstGeom>
          <a:solidFill>
            <a:srgbClr val="3876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</a:rPr>
              <a:t>Mentor</a:t>
            </a:r>
            <a:endParaRPr b="1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4654975" y="2398400"/>
            <a:ext cx="1220400" cy="446100"/>
          </a:xfrm>
          <a:prstGeom prst="roundRect">
            <a:avLst>
              <a:gd fmla="val 16667" name="adj"/>
            </a:avLst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</a:rPr>
              <a:t>Usuarios del estacionamiento</a:t>
            </a:r>
            <a:endParaRPr b="1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38200" y="902675"/>
            <a:ext cx="1773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190600" y="902675"/>
            <a:ext cx="1773900" cy="910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Ubica cada interesado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según su poder de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decisió</a:t>
            </a:r>
            <a:r>
              <a:rPr lang="en" sz="1100">
                <a:solidFill>
                  <a:schemeClr val="dk1"/>
                </a:solidFill>
              </a:rPr>
              <a:t>n </a:t>
            </a:r>
            <a:r>
              <a:rPr lang="en" sz="1100">
                <a:solidFill>
                  <a:schemeClr val="dk1"/>
                </a:solidFill>
              </a:rPr>
              <a:t>y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su nivel de interés en el proyecto.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5008000" y="4712400"/>
            <a:ext cx="10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" sz="1600">
                <a:solidFill>
                  <a:srgbClr val="FF9900"/>
                </a:solidFill>
              </a:rPr>
              <a:t>Interés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1786976" y="2351019"/>
            <a:ext cx="1007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" sz="1500">
                <a:solidFill>
                  <a:srgbClr val="666666"/>
                </a:solidFill>
              </a:rPr>
              <a:t>medio</a:t>
            </a:r>
            <a:endParaRPr b="1" i="0" sz="15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7152763" y="1813169"/>
            <a:ext cx="988800" cy="431100"/>
          </a:xfrm>
          <a:prstGeom prst="roundRect">
            <a:avLst>
              <a:gd fmla="val 16667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</a:rPr>
              <a:t>Profesor responsable</a:t>
            </a:r>
            <a:endParaRPr b="1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2642350" y="2244275"/>
            <a:ext cx="1255800" cy="4311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</a:rPr>
              <a:t>Proveedor de servicios de pago</a:t>
            </a:r>
            <a:endParaRPr b="1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4637275" y="1952025"/>
            <a:ext cx="1255800" cy="4311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" sz="900">
                <a:solidFill>
                  <a:srgbClr val="FFFFFF"/>
                </a:solidFill>
              </a:rPr>
              <a:t>Personal administrativo del estacionamiento</a:t>
            </a:r>
            <a:endParaRPr b="1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Laura Veneskey</dc:creator>
</cp:coreProperties>
</file>